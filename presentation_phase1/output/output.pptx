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1b0b2ac41f4afb" /><Relationship Type="http://schemas.openxmlformats.org/officeDocument/2006/relationships/extended-properties" Target="/docProps/app.xml" Id="R06d386ba6d8d4c7f" /><Relationship Type="http://schemas.openxmlformats.org/officeDocument/2006/relationships/officeDocument" Target="/ppt/presentation.xml" Id="Rd6282950512f47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4b6e647f104023"/>
  </p:sldMasterIdLst>
  <p:notesMasterIdLst>
    <p:notesMasterId xmlns:r="http://schemas.openxmlformats.org/officeDocument/2006/relationships" r:id="Rcd6b19adadad4c59"/>
  </p:notesMasterIdLst>
  <p:sldIdLst>
    <p:sldId xmlns:r="http://schemas.openxmlformats.org/officeDocument/2006/relationships" id="256" r:id="R14d00ee5402a4dc2"/>
    <p:sldId xmlns:r="http://schemas.openxmlformats.org/officeDocument/2006/relationships" id="257" r:id="R409b483d722b41bf"/>
    <p:sldId xmlns:r="http://schemas.openxmlformats.org/officeDocument/2006/relationships" id="258" r:id="R7ea9fed9259f4d66"/>
    <p:sldId xmlns:r="http://schemas.openxmlformats.org/officeDocument/2006/relationships" id="259" r:id="Rdebea3fcb6b648ee"/>
    <p:sldId xmlns:r="http://schemas.openxmlformats.org/officeDocument/2006/relationships" id="260" r:id="R2796bba552e9419c"/>
    <p:sldId xmlns:r="http://schemas.openxmlformats.org/officeDocument/2006/relationships" id="261" r:id="R5319d1ccca9442e2"/>
    <p:sldId xmlns:r="http://schemas.openxmlformats.org/officeDocument/2006/relationships" id="262" r:id="R74cfd6996c8c48a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b6e647f104023" /><Relationship Type="http://schemas.openxmlformats.org/officeDocument/2006/relationships/theme" Target="/ppt/theme/theme1.xml" Id="Rb5250e739fae41b1" /><Relationship Type="http://schemas.openxmlformats.org/officeDocument/2006/relationships/notesMaster" Target="/ppt/notesMasters/notesMaster1.xml" Id="Rcd6b19adadad4c59" /><Relationship Type="http://schemas.openxmlformats.org/officeDocument/2006/relationships/presProps" Target="/ppt/presProps.xml" Id="R7b128aa49c0846f4" /><Relationship Type="http://schemas.openxmlformats.org/officeDocument/2006/relationships/viewProps" Target="/ppt/viewProps.xml" Id="R2780ea17e2474f8d" /><Relationship Type="http://schemas.openxmlformats.org/officeDocument/2006/relationships/tableStyles" Target="/ppt/tableStyles.xml" Id="R47f108f102a04ddd" /><Relationship Type="http://schemas.openxmlformats.org/officeDocument/2006/relationships/slide" Target="/ppt/slides/slide1.xml" Id="R14d00ee5402a4dc2" /><Relationship Type="http://schemas.openxmlformats.org/officeDocument/2006/relationships/slide" Target="/ppt/slides/slide2.xml" Id="R409b483d722b41bf" /><Relationship Type="http://schemas.openxmlformats.org/officeDocument/2006/relationships/slide" Target="/ppt/slides/slide3.xml" Id="R7ea9fed9259f4d66" /><Relationship Type="http://schemas.openxmlformats.org/officeDocument/2006/relationships/slide" Target="/ppt/slides/slide4.xml" Id="Rdebea3fcb6b648ee" /><Relationship Type="http://schemas.openxmlformats.org/officeDocument/2006/relationships/slide" Target="/ppt/slides/slide5.xml" Id="R2796bba552e9419c" /><Relationship Type="http://schemas.openxmlformats.org/officeDocument/2006/relationships/slide" Target="/ppt/slides/slide6.xml" Id="R5319d1ccca9442e2" /><Relationship Type="http://schemas.openxmlformats.org/officeDocument/2006/relationships/slide" Target="/ppt/slides/slide7.xml" Id="R74cfd6996c8c48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a8a548ef8949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5f9b078fbd4553" /><Relationship Type="http://schemas.openxmlformats.org/officeDocument/2006/relationships/notesMaster" Target="/ppt/notesMasters/notesMaster1.xml" Id="Rcbcdbaa6570149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9cabaadf14295" /><Relationship Type="http://schemas.openxmlformats.org/officeDocument/2006/relationships/notesMaster" Target="/ppt/notesMasters/notesMaster1.xml" Id="R9b3253f4713f42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3632c49c34fd7" /><Relationship Type="http://schemas.openxmlformats.org/officeDocument/2006/relationships/notesMaster" Target="/ppt/notesMasters/notesMaster1.xml" Id="Reac9777b0b6742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91ff30d0a45c3" /><Relationship Type="http://schemas.openxmlformats.org/officeDocument/2006/relationships/notesMaster" Target="/ppt/notesMasters/notesMaster1.xml" Id="R1169dac016ac4a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90301b412b4dcb" /><Relationship Type="http://schemas.openxmlformats.org/officeDocument/2006/relationships/notesMaster" Target="/ppt/notesMasters/notesMaster1.xml" Id="Re46dd061bcca47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8a354049fd40fa" /><Relationship Type="http://schemas.openxmlformats.org/officeDocument/2006/relationships/notesMaster" Target="/ppt/notesMasters/notesMaster1.xml" Id="R428acc2aa6ad4d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29d2b6e00c44fd" /><Relationship Type="http://schemas.openxmlformats.org/officeDocument/2006/relationships/notesMaster" Target="/ppt/notesMasters/notesMaster1.xml" Id="R898f3121482641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4330216b3453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22d9191ebb24d17" /><Relationship Type="http://schemas.openxmlformats.org/officeDocument/2006/relationships/slideLayout" Target="/ppt/slideLayouts/slideLayout2.xml" Id="R6798eee486f242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98eee486f242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4170bce7e7487d" /><Relationship Type="http://schemas.openxmlformats.org/officeDocument/2006/relationships/notesSlide" Target="/ppt/notesSlides/notesSlide1.xml" Id="Rdb6e6dbbec9a4d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03c08305cf4e5f" /><Relationship Type="http://schemas.openxmlformats.org/officeDocument/2006/relationships/notesSlide" Target="/ppt/notesSlides/notesSlide2.xml" Id="R403e547c001d42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3a593bef9c4b6a" /><Relationship Type="http://schemas.openxmlformats.org/officeDocument/2006/relationships/notesSlide" Target="/ppt/notesSlides/notesSlide3.xml" Id="R90b1a10afd7d42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d68d6dcfb44c27" /><Relationship Type="http://schemas.openxmlformats.org/officeDocument/2006/relationships/notesSlide" Target="/ppt/notesSlides/notesSlide4.xml" Id="Re8dd0c0a5b6141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f721fbaaa4cd1" /><Relationship Type="http://schemas.openxmlformats.org/officeDocument/2006/relationships/notesSlide" Target="/ppt/notesSlides/notesSlide5.xml" Id="R4cd3da39a9214b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c8db1faa2b403a" /><Relationship Type="http://schemas.openxmlformats.org/officeDocument/2006/relationships/notesSlide" Target="/ppt/notesSlides/notesSlide6.xml" Id="R048a312c7f284c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525f12f5ef4784" /><Relationship Type="http://schemas.openxmlformats.org/officeDocument/2006/relationships/notesSlide" Target="/ppt/notesSlides/notesSlide7.xml" Id="Rf167016a10d74f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C508C3-3C34-44AD-8301-70B594D1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20383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C8B57"/>
                </a:solidFill>
              </a:defRPr>
            </a:pPr>
            <a:r>
              <a:rPr sz="6000" b="1">
                <a:solidFill>
                  <a:srgbClr val="1C8B57"/>
                </a:solidFill>
              </a:rPr>
              <a:t>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F5B56-0516-44D7-8E45-BF243EA2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114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9A2C"/>
                </a:solidFill>
              </a:defRPr>
            </a:pPr>
            <a:r>
              <a:rPr sz="2550" b="1">
                <a:solidFill>
                  <a:srgbClr val="D39A2C"/>
                </a:solidFill>
              </a:rPr>
              <a:t>Agro-consulting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93F86-3E21-4044-BA65-79E1297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8B57"/>
                </a:solidFill>
              </a:defRPr>
            </a:pPr>
            <a:r>
              <a:rPr sz="2100" b="1">
                <a:solidFill>
                  <a:srgbClr val="1C8B57"/>
                </a:solidFill>
              </a:rPr>
              <a:t>Trust Agro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EC3D8-F1BB-4E4E-A5AD-F58C0FB7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000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56D"/>
                </a:solidFill>
              </a:defRPr>
            </a:pPr>
            <a:r>
              <a:rPr sz="1650">
                <a:solidFill>
                  <a:srgbClr val="64756D"/>
                </a:solidFill>
              </a:rPr>
              <a:t>Consulting and Farming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3E640-3D86-4B6C-A6AC-E048C2FD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85800"/>
            <a:ext cx="941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C8B57"/>
                </a:solidFill>
              </a:defRPr>
            </a:pPr>
            <a:r>
              <a:rPr sz="1800" b="1">
                <a:solidFill>
                  <a:srgbClr val="1C8B57"/>
                </a:solidFill>
              </a:rPr>
              <a:t>PHASE 1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4B5E3-E2BC-4368-9056-83779CBF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81100"/>
            <a:ext cx="86296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63526"/>
                </a:solidFill>
              </a:defRPr>
            </a:pPr>
            <a:r>
              <a:rPr sz="5400" b="1">
                <a:solidFill>
                  <a:srgbClr val="163526"/>
                </a:solidFill>
              </a:rPr>
              <a:t>Trust ERP System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3E9D-B298-498D-B031-563C0E9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670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C"/>
          </a:solidFill>
          <a:ln xmlns:a="http://schemas.openxmlformats.org/drawingml/2006/main" w="0">
            <a:solidFill>
              <a:srgbClr val="D39A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D24AE-35D1-4C9B-AD5C-B6B98C45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52800"/>
            <a:ext cx="8648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74036"/>
                </a:solidFill>
              </a:defRPr>
            </a:pPr>
            <a:r>
              <a:rPr sz="2250">
                <a:solidFill>
                  <a:srgbClr val="274036"/>
                </a:solidFill>
              </a:rPr>
              <a:t>Focus areas for Weeks 1-2: user authentication and role-based access, plus farm management basic data entry.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03658-C44D-44A2-919E-70EB395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67200"/>
            <a:ext cx="811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56D"/>
                </a:solidFill>
              </a:defRPr>
            </a:pPr>
            <a:r>
              <a:rPr sz="1800">
                <a:solidFill>
                  <a:srgbClr val="64756D"/>
                </a:solidFill>
              </a:rPr>
              <a:t>This deck explains what the current ERP system does, what Phase 1 includes, and why it matters for controlled operations and reliable farm records.</a:t>
            </a:r>
          </a:p>
        </p:txBody>
      </p:sp>
    </p:spTree>
    <p:extLst>
      <p:ext uri="{BB962C8B-B14F-4D97-AF65-F5344CB8AC3E}">
        <p14:creationId xmlns:p14="http://schemas.microsoft.com/office/powerpoint/2010/main" val="8256952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3966F71-071A-4CF1-972C-257DEE8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C8B57"/>
                </a:solidFill>
              </a:defRPr>
            </a:pPr>
            <a:r>
              <a:rPr sz="1650" b="1">
                <a:solidFill>
                  <a:srgbClr val="1C8B57"/>
                </a:solidFill>
              </a:rPr>
              <a:t>ERP Overview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BE6FFC-5632-43F1-8F48-181367AF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1346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3526"/>
                </a:solidFill>
              </a:defRPr>
            </a:pPr>
            <a:r>
              <a:rPr sz="4350" b="1">
                <a:solidFill>
                  <a:srgbClr val="163526"/>
                </a:solidFill>
              </a:rPr>
              <a:t>What the Trust ERP system is designed to do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8F82FD-DE65-4EEE-9614-CACE615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7"/>
          </a:solidFill>
          <a:ln xmlns:a="http://schemas.openxmlformats.org/drawingml/2006/main" w="0">
            <a:solidFill>
              <a:srgbClr val="1C8B57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30CAB1-2BA1-410D-AE12-4FF50619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6934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56D"/>
                </a:solidFill>
              </a:defRPr>
            </a:pPr>
            <a:r>
              <a:rPr sz="1950">
                <a:solidFill>
                  <a:srgbClr val="64756D"/>
                </a:solidFill>
              </a:rPr>
              <a:t>A single operational platform for poultry and farm business activities.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48FE2-658C-4B50-A1E5-6AB85A1E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Core purpose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99A99AED-B116-4398-9D24-13418D2B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6972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Centralize daily farm work into one system instead of separate notebooks, files, and disconnected tools.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FE7885F7-D6C8-424B-A16E-92BD743F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086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Support poultry and agro operations with secure access, clean records, and a structure for future reporting.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717DC623-C699-4A42-A43B-184F1248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6610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Create a strong base for modules such as flocks, veterinary, pharmacy, inventory, CRM, and finance.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54ED7-0A36-4D1A-996C-D15B7E68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9A2C"/>
                </a:solidFill>
              </a:defRPr>
            </a:pPr>
            <a:r>
              <a:rPr sz="1950" b="1">
                <a:solidFill>
                  <a:srgbClr val="D39A2C"/>
                </a:solidFill>
              </a:rPr>
              <a:t>Current platform direction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2426B8CC-8CDC-4902-ABDB-2AF1F5E7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701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Authentication endpoints are available for login and current-user retrieval.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201625BD-FF67-427A-9C90-9D457D2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19600"/>
            <a:ext cx="657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Role-based access is defined for administrators, managers, veterinary, finance, store, pharmacy, and extension teams.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7FB0915-5248-4A41-B9E4-F41BAB70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86350"/>
            <a:ext cx="701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Farm records can already be created and maintained through the frontend and backend modules.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52225-A75B-45A2-8C53-6E6F1E9F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Why ERP matters</a:t>
            </a:r>
          </a:p>
        </p:txBody>
      </p:sp>
      <p:sp>
        <p:nvSpPr>
          <p:cNvPr id="14" name="bullet-1">
            <a:extLst xmlns:a="http://schemas.openxmlformats.org/drawingml/2006/main">
              <a:ext uri="{FF2B5EF4-FFF2-40B4-BE49-F238E27FC236}">
                <a16:creationId xmlns:a16="http://schemas.microsoft.com/office/drawing/2014/main" id="{2987D63B-0BF0-4956-9E1D-1E44D969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436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Improves visibility across operations.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E6EB3EB9-9FEA-4A7F-B6B1-1E7FAD78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24650"/>
            <a:ext cx="3790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Standardizes data entry and ownership.</a:t>
            </a:r>
          </a:p>
        </p:txBody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E64EF6F8-E57D-4D72-9A77-EA935014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91400"/>
            <a:ext cx="4133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Reduces manual errors and duplicate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4A029-1820-4F86-8BB6-E70E2CF9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9A2C"/>
                </a:solidFill>
              </a:defRPr>
            </a:pPr>
            <a:r>
              <a:rPr sz="1950" b="1">
                <a:solidFill>
                  <a:srgbClr val="D39A2C"/>
                </a:solidFill>
              </a:rPr>
              <a:t>Phase 1 outcome</a:t>
            </a:r>
          </a:p>
        </p:txBody>
      </p:sp>
      <p:sp>
        <p:nvSpPr>
          <p:cNvPr id="18" name="bullet-1">
            <a:extLst xmlns:a="http://schemas.openxmlformats.org/drawingml/2006/main">
              <a:ext uri="{FF2B5EF4-FFF2-40B4-BE49-F238E27FC236}">
                <a16:creationId xmlns:a16="http://schemas.microsoft.com/office/drawing/2014/main" id="{1D910248-2406-4F6C-9E74-A5529B22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343650"/>
            <a:ext cx="3867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Secure sign-in and user access structure.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5E077744-2ABC-4892-9A60-BED3200B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724650"/>
            <a:ext cx="2838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Basic farm master-data entry.</a:t>
            </a:r>
          </a:p>
        </p:txBody>
      </p:sp>
      <p:sp>
        <p:nvSpPr>
          <p:cNvPr id="20" name="bullet-3">
            <a:extLst xmlns:a="http://schemas.openxmlformats.org/drawingml/2006/main">
              <a:ext uri="{FF2B5EF4-FFF2-40B4-BE49-F238E27FC236}">
                <a16:creationId xmlns:a16="http://schemas.microsoft.com/office/drawing/2014/main" id="{ADB7CBE4-AC90-4BD8-B90C-8405D84C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391400"/>
            <a:ext cx="4914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A launchpad for controlled scaling into later phases.</a:t>
            </a:r>
          </a:p>
        </p:txBody>
      </p:sp>
    </p:spTree>
    <p:extLst>
      <p:ext uri="{BB962C8B-B14F-4D97-AF65-F5344CB8AC3E}">
        <p14:creationId xmlns:p14="http://schemas.microsoft.com/office/powerpoint/2010/main" val="977287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9917E6E-75CF-4F30-B509-39A5A799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C8B57"/>
                </a:solidFill>
              </a:defRPr>
            </a:pPr>
            <a:r>
              <a:rPr sz="1650" b="1">
                <a:solidFill>
                  <a:srgbClr val="1C8B57"/>
                </a:solidFill>
              </a:rPr>
              <a:t>Phase 1 Scope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830F90-0F23-4E7A-BCA0-CFD42C6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820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3526"/>
                </a:solidFill>
              </a:defRPr>
            </a:pPr>
            <a:r>
              <a:rPr sz="4350" b="1">
                <a:solidFill>
                  <a:srgbClr val="163526"/>
                </a:solidFill>
              </a:rPr>
              <a:t>Weeks 1-2 focus on two foundation capabilities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161C30-64C9-4ACC-A947-FBCB1340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7"/>
          </a:solidFill>
          <a:ln xmlns:a="http://schemas.openxmlformats.org/drawingml/2006/main" w="0">
            <a:solidFill>
              <a:srgbClr val="1C8B57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190100-34AA-42C2-B615-4225AC7D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8743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56D"/>
                </a:solidFill>
              </a:defRPr>
            </a:pPr>
            <a:r>
              <a:rPr sz="1950">
                <a:solidFill>
                  <a:srgbClr val="64756D"/>
                </a:solidFill>
              </a:rPr>
              <a:t>These are the minimum controls needed to start operating the ERP in a structured way.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4BA38-9A29-46B2-B9EA-1DBC6408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8039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1. User authentication and roles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5BEE4E99-C572-4295-97DE-32494FB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Users log in through the authentication module.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1867F64C-C094-4C51-BF1B-BF30953B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81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Protected API routes require authenticated access.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BD3C8FF7-DAD8-420E-9444-A764C8D1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Role definitions establish who can manage which business functions.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49545-3163-48FD-BBF0-0FD50A18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803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56D"/>
                </a:solidFill>
              </a:defRPr>
            </a:pPr>
            <a:r>
              <a:rPr sz="1350">
                <a:solidFill>
                  <a:srgbClr val="64756D"/>
                </a:solidFill>
              </a:rPr>
              <a:t>Foundation for secure access and accountability.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7DC3D-720B-4223-81FC-D08E3FF0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8039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9A2C"/>
                </a:solidFill>
              </a:defRPr>
            </a:pPr>
            <a:r>
              <a:rPr sz="1950" b="1">
                <a:solidFill>
                  <a:srgbClr val="D39A2C"/>
                </a:solidFill>
              </a:rPr>
              <a:t>2. Farm management module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F06DE13B-7D57-4739-9BD9-E444F9F0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9950"/>
            <a:ext cx="676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Basic farm data can be entered and updated through the farm form and farm backend service.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A4B2064-5212-4515-8935-E821C4CE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76700"/>
            <a:ext cx="7086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Key fields cover farm name, location, type, capacity, and assigned manager.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667D1A75-55A0-4A30-A132-6ACA65E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43450"/>
            <a:ext cx="6705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This creates a controlled starting point for all later flock and production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B406E-261C-4360-872D-1A03B464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48300"/>
            <a:ext cx="803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56D"/>
                </a:solidFill>
              </a:defRPr>
            </a:pPr>
            <a:r>
              <a:rPr sz="1350">
                <a:solidFill>
                  <a:srgbClr val="64756D"/>
                </a:solidFill>
              </a:rPr>
              <a:t>Foundation for master data consistency.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EF7E5-33BB-4460-B7FE-DE796BBA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6553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526"/>
                </a:solidFill>
              </a:defRPr>
            </a:pPr>
            <a:r>
              <a:rPr sz="2550" b="1">
                <a:solidFill>
                  <a:srgbClr val="163526"/>
                </a:solidFill>
              </a:rPr>
              <a:t>Phase 1 is about readiness, not full ERP maturity.</a:t>
            </a:r>
          </a:p>
        </p:txBody>
      </p:sp>
    </p:spTree>
    <p:extLst>
      <p:ext uri="{BB962C8B-B14F-4D97-AF65-F5344CB8AC3E}">
        <p14:creationId xmlns:p14="http://schemas.microsoft.com/office/powerpoint/2010/main" val="1209707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44C8828-86D5-4531-9433-89E36E43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C8B57"/>
                </a:solidFill>
              </a:defRPr>
            </a:pPr>
            <a:r>
              <a:rPr sz="1650" b="1">
                <a:solidFill>
                  <a:srgbClr val="1C8B57"/>
                </a:solidFill>
              </a:rPr>
              <a:t>Capability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1DA768-4782-406C-8E2A-75394273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9677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3526"/>
                </a:solidFill>
              </a:defRPr>
            </a:pPr>
            <a:r>
              <a:rPr sz="4350" b="1">
                <a:solidFill>
                  <a:srgbClr val="163526"/>
                </a:solidFill>
              </a:rPr>
              <a:t>User authentication and role-based access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0E53CA-217B-4DA3-A97B-E1704358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7"/>
          </a:solidFill>
          <a:ln xmlns:a="http://schemas.openxmlformats.org/drawingml/2006/main" w="0">
            <a:solidFill>
              <a:srgbClr val="1C8B57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50A1BC0-A3FA-4331-BE36-84443DAE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8820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56D"/>
                </a:solidFill>
              </a:defRPr>
            </a:pPr>
            <a:r>
              <a:rPr sz="1950">
                <a:solidFill>
                  <a:srgbClr val="64756D"/>
                </a:solidFill>
              </a:rPr>
              <a:t>The ERP already includes the key building blocks for secure sign-in and controlled usage.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F764E-60A0-4686-BFB2-9532310D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8496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What is implemented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56E7E807-3556-42A2-BBAD-1F86044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5562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Login endpoint is available in the authentication controller.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11E58255-6C68-44B8-809C-A2858116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5124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Current user lookup is available for signed-in sessions.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596191E8-DFFD-4091-8EF0-B9C47CEB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5238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Security configuration protects all non-login API routes.</a:t>
            </a:r>
          </a:p>
        </p:txBody>
      </p:sp>
      <p:sp>
        <p:nvSpPr>
          <p:cNvPr id="9" name="bullet-4">
            <a:extLst xmlns:a="http://schemas.openxmlformats.org/drawingml/2006/main">
              <a:ext uri="{FF2B5EF4-FFF2-40B4-BE49-F238E27FC236}">
                <a16:creationId xmlns:a16="http://schemas.microsoft.com/office/drawing/2014/main" id="{5D03C889-D4A4-42EE-B111-4C42D0C8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685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Password handling uses BCrypt encoding for stronger credential security.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C4D56-7409-46E7-8C36-1871422B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9560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9A2C"/>
                </a:solidFill>
              </a:defRPr>
            </a:pPr>
            <a:r>
              <a:rPr sz="1950" b="1">
                <a:solidFill>
                  <a:srgbClr val="D39A2C"/>
                </a:solidFill>
              </a:rPr>
              <a:t>Role structure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E0786909-B823-423F-B189-51960EB9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147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Administration: ADMIN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1FBFDCA7-B132-4AE7-911E-ED23FC82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590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Management: GENERAL_MANAGER, OPERATIONS_MANAGER, FARM_MANAGER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1F9E58B9-21BF-4C26-91E2-E14D68E1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81500"/>
            <a:ext cx="565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Operations support: VETERINARY_OFFICER, STORE_KEEPER, PHARMACY_SALES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B2349732-F70B-4E2C-B81E-9A7B037C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29200"/>
            <a:ext cx="3924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Business support: FINANCE_OFFICER and EXTENSION_WORKER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29D71-4E82-42ED-B446-A6165A28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16611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Business value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835613D1-294F-4776-8AE4-E718B30C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4152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Only approved users can access the system.</a:t>
            </a:r>
          </a:p>
        </p:txBody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FF16C8A8-914B-4153-BFF2-05CA2785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24700"/>
            <a:ext cx="4591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Different job functions can be separated by role.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135CE2C2-1C92-4272-B640-6E35CB1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91450"/>
            <a:ext cx="704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The ERP is ready for tighter module-level permissions as the project grows.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CA5B7-8960-4039-9C03-954209D3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772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56D"/>
                </a:solidFill>
              </a:defRPr>
            </a:pPr>
            <a:r>
              <a:rPr sz="1350">
                <a:solidFill>
                  <a:srgbClr val="64756D"/>
                </a:solidFill>
              </a:rPr>
              <a:t>Project evidence: AuthController, SecurityConfig, and Role enum in the backend project.</a:t>
            </a:r>
          </a:p>
        </p:txBody>
      </p:sp>
    </p:spTree>
    <p:extLst>
      <p:ext uri="{BB962C8B-B14F-4D97-AF65-F5344CB8AC3E}">
        <p14:creationId xmlns:p14="http://schemas.microsoft.com/office/powerpoint/2010/main" val="17310459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CC5AE77-B798-4436-9B4F-A00903DF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C8B57"/>
                </a:solidFill>
              </a:defRPr>
            </a:pPr>
            <a:r>
              <a:rPr sz="1650" b="1">
                <a:solidFill>
                  <a:srgbClr val="1C8B57"/>
                </a:solidFill>
              </a:rPr>
              <a:t>Capability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BB27C3-7B7A-4FE2-9C7D-14D00A6E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763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3526"/>
                </a:solidFill>
              </a:defRPr>
            </a:pPr>
            <a:r>
              <a:rPr sz="4350" b="1">
                <a:solidFill>
                  <a:srgbClr val="163526"/>
                </a:solidFill>
              </a:rPr>
              <a:t>Farm management module for basic data entry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56C570C-79CB-48FB-83D8-EE9CD7FF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7"/>
          </a:solidFill>
          <a:ln xmlns:a="http://schemas.openxmlformats.org/drawingml/2006/main" w="0">
            <a:solidFill>
              <a:srgbClr val="1C8B57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042990-922D-4693-A598-70DC830E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56D"/>
                </a:solidFill>
              </a:defRPr>
            </a:pPr>
            <a:r>
              <a:rPr sz="1950">
                <a:solidFill>
                  <a:srgbClr val="64756D"/>
                </a:solidFill>
              </a:rPr>
              <a:t>The ERP includes the farm data model, backend endpoints, and a frontend farm 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D4A24-DCC1-4355-AED3-D3E9A915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Data captured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FE013B03-7171-4ADF-9C44-57D8CC7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Farm name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8CF20F87-BC21-4998-9232-E3585C74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14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Location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7C4F40CA-F1F9-4DC7-BDCD-139EA9ED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06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Farm type</a:t>
            </a:r>
          </a:p>
        </p:txBody>
      </p:sp>
      <p:sp>
        <p:nvSpPr>
          <p:cNvPr id="9" name="bullet-4">
            <a:extLst xmlns:a="http://schemas.openxmlformats.org/drawingml/2006/main">
              <a:ext uri="{FF2B5EF4-FFF2-40B4-BE49-F238E27FC236}">
                <a16:creationId xmlns:a16="http://schemas.microsoft.com/office/drawing/2014/main" id="{13F0F12D-BE55-43F1-A3EA-0216FAE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914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Capacity</a:t>
            </a:r>
          </a:p>
        </p:txBody>
      </p:sp>
      <p:sp>
        <p:nvSpPr>
          <p:cNvPr id="10" name="bullet-5">
            <a:extLst xmlns:a="http://schemas.openxmlformats.org/drawingml/2006/main">
              <a:ext uri="{FF2B5EF4-FFF2-40B4-BE49-F238E27FC236}">
                <a16:creationId xmlns:a16="http://schemas.microsoft.com/office/drawing/2014/main" id="{B246846F-A527-4762-A96C-949B111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410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Assigned farm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2F5A0-E80F-4154-AED0-0A516FDA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9A2C"/>
                </a:solidFill>
              </a:defRPr>
            </a:pPr>
            <a:r>
              <a:rPr sz="1950" b="1">
                <a:solidFill>
                  <a:srgbClr val="D39A2C"/>
                </a:solidFill>
              </a:rPr>
              <a:t>How it works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19E6BDCF-BFB2-4A5C-BC09-F1D87DA4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554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Users can create and edit farms in the frontend farm form.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36F99333-0FBF-41A3-8F56-9D84338B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19600"/>
            <a:ext cx="520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The backend validates the incoming farm request data.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680EC857-4C48-480B-A009-B4C69D52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9650"/>
            <a:ext cx="6934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Farm records become the master reference for later flock and operational activity.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58EB7-B00F-46AB-A379-3EEF1AAE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0"/>
            <a:ext cx="16611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Why this matters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8166567F-8DD4-4657-AEC1-E5730EE0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86600"/>
            <a:ext cx="6800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Standardized farm records reduce confusion across locations and teams.</a:t>
            </a:r>
          </a:p>
        </p:txBody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FC2F0CC1-53CF-4B51-BCF4-FD63545E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53350"/>
            <a:ext cx="579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Capacity and ownership data support planning and oversight.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0D2E014B-7FF9-40C0-B659-06FA5E0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34350"/>
            <a:ext cx="8877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Farm setup is a necessary base before scaling production, veterinary, and inventory workflows.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58EEA-AE99-4AA0-8C0C-7D5580AA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53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56D"/>
                </a:solidFill>
              </a:defRPr>
            </a:pPr>
            <a:r>
              <a:rPr sz="1350">
                <a:solidFill>
                  <a:srgbClr val="64756D"/>
                </a:solidFill>
              </a:rPr>
              <a:t>Project evidence: FarmController, FarmRequest, and FarmForm in the current ERP project.</a:t>
            </a:r>
          </a:p>
        </p:txBody>
      </p:sp>
    </p:spTree>
    <p:extLst>
      <p:ext uri="{BB962C8B-B14F-4D97-AF65-F5344CB8AC3E}">
        <p14:creationId xmlns:p14="http://schemas.microsoft.com/office/powerpoint/2010/main" val="2521994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EFEA09E-FE93-4F37-991D-45E8DFF4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C8B57"/>
                </a:solidFill>
              </a:defRPr>
            </a:pPr>
            <a:r>
              <a:rPr sz="1650" b="1">
                <a:solidFill>
                  <a:srgbClr val="1C8B57"/>
                </a:solidFill>
              </a:rPr>
              <a:t>Phase 1 Value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4F28D2-10D0-43BA-840B-A06148A2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401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3526"/>
                </a:solidFill>
              </a:defRPr>
            </a:pPr>
            <a:r>
              <a:rPr sz="4350" b="1">
                <a:solidFill>
                  <a:srgbClr val="163526"/>
                </a:solidFill>
              </a:rPr>
              <a:t>What the business gains from this foundation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F9BDAF1-0B86-4379-8D07-E0B2059E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7"/>
          </a:solidFill>
          <a:ln xmlns:a="http://schemas.openxmlformats.org/drawingml/2006/main" w="0">
            <a:solidFill>
              <a:srgbClr val="1C8B57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087185-F3B0-44A5-B4AA-7BD441E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6362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56D"/>
                </a:solidFill>
              </a:defRPr>
            </a:pPr>
            <a:r>
              <a:rPr sz="1950">
                <a:solidFill>
                  <a:srgbClr val="64756D"/>
                </a:solidFill>
              </a:rPr>
              <a:t>Even a small first phase creates meaningful operational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7C498-AA5A-4FED-83D6-98D987D9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Control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84183DBA-CBA3-43DA-A57A-7DB9D0A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438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Secures system access through authentication.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090E7FFF-C228-4875-B1D7-F0F09E5A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61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Introduces role-aware responsibility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D1868-5D12-41DD-9FC5-0DCFC146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9A2C"/>
                </a:solidFill>
              </a:defRPr>
            </a:pPr>
            <a:r>
              <a:rPr sz="1950" b="1">
                <a:solidFill>
                  <a:srgbClr val="D39A2C"/>
                </a:solidFill>
              </a:rPr>
              <a:t>Consistency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0412E098-EC5C-4D24-B47D-3039C060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5200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Creates one standard way to register farm information.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B0AB2FF9-9DBE-48ED-AB79-E2F53752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4552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Improves data reliability for future modules and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6CFDD-0C6D-4CC7-A59A-BB18C1B7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Readiness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67145754-67D1-414A-B8C6-E787D7A9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521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Makes it easier to add flocks, inventory, veterinary, and finance workflows next.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931A744F-C96F-4C85-B37E-90D036F3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10000"/>
            <a:ext cx="521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Supports cleaner expansion than building each module in isolation.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53EE6-84E9-4DB1-B4C7-BE927E84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1485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9A2C"/>
                </a:solidFill>
              </a:defRPr>
            </a:pPr>
            <a:r>
              <a:rPr sz="1950" b="1">
                <a:solidFill>
                  <a:srgbClr val="D39A2C"/>
                </a:solidFill>
              </a:rPr>
              <a:t>Confidence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FFBCD54E-E7DB-4CAD-9BF4-6A620AB6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91100"/>
            <a:ext cx="4648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Shows stakeholders that the ERP already has real structure, not just a UI shell.</a:t>
            </a:r>
          </a:p>
        </p:txBody>
      </p:sp>
      <p:sp>
        <p:nvSpPr>
          <p:cNvPr id="16" name="bullet-2">
            <a:extLst xmlns:a="http://schemas.openxmlformats.org/drawingml/2006/main">
              <a:ext uri="{FF2B5EF4-FFF2-40B4-BE49-F238E27FC236}">
                <a16:creationId xmlns:a16="http://schemas.microsoft.com/office/drawing/2014/main" id="{A2FE0436-09F9-4890-A270-208A826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57850"/>
            <a:ext cx="5276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Creates a visible starting point for adoption and process discipline.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B9FC1-528D-49AE-8F24-A89701E4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34150"/>
            <a:ext cx="9105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526"/>
                </a:solidFill>
              </a:defRPr>
            </a:pPr>
            <a:r>
              <a:rPr sz="2700" b="1">
                <a:solidFill>
                  <a:srgbClr val="163526"/>
                </a:solidFill>
              </a:rPr>
              <a:t>Phase 1 turns the ERP into an operationally credible foundation.</a:t>
            </a:r>
          </a:p>
        </p:txBody>
      </p:sp>
    </p:spTree>
    <p:extLst>
      <p:ext uri="{BB962C8B-B14F-4D97-AF65-F5344CB8AC3E}">
        <p14:creationId xmlns:p14="http://schemas.microsoft.com/office/powerpoint/2010/main" val="19119304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D54B302-BE49-462B-8E02-46D14736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C8B57"/>
                </a:solidFill>
              </a:defRPr>
            </a:pPr>
            <a:r>
              <a:rPr sz="1650" b="1">
                <a:solidFill>
                  <a:srgbClr val="1C8B57"/>
                </a:solidFill>
              </a:rPr>
              <a:t>Next Steps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178C57-04CA-47A9-ADB0-F96A2D19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685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3526"/>
                </a:solidFill>
              </a:defRPr>
            </a:pPr>
            <a:r>
              <a:rPr sz="4350" b="1">
                <a:solidFill>
                  <a:srgbClr val="163526"/>
                </a:solidFill>
              </a:rPr>
              <a:t>What can follow after Phase 1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134524A-0027-488D-BF5A-740AC63E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7"/>
          </a:solidFill>
          <a:ln xmlns:a="http://schemas.openxmlformats.org/drawingml/2006/main" w="0">
            <a:solidFill>
              <a:srgbClr val="1C8B57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C11F69-DC3B-477B-9EAF-9A89F2D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691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56D"/>
                </a:solidFill>
              </a:defRPr>
            </a:pPr>
            <a:r>
              <a:rPr sz="1950">
                <a:solidFill>
                  <a:srgbClr val="64756D"/>
                </a:solidFill>
              </a:rPr>
              <a:t>The current foundation is positioned to support broader ERP growth.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CFA1B-26FA-4DCC-931B-E92CCB5A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Operational expansion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948AF105-83E2-4760-842B-8E4EB69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3981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Flock registration and production tracking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5982A422-F1D7-4E1B-834A-F17CA5C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Inventory movement and stock control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874456CF-D618-4046-9C95-5DB59FE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648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Veterinary treatment and health issue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10454-4D91-491E-AB0F-7A2EEF6D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71800"/>
            <a:ext cx="8077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9A2C"/>
                </a:solidFill>
              </a:defRPr>
            </a:pPr>
            <a:r>
              <a:rPr sz="1950" b="1">
                <a:solidFill>
                  <a:srgbClr val="D39A2C"/>
                </a:solidFill>
              </a:rPr>
              <a:t>Business expansion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B57715CB-FC84-4B1A-A006-E1A8745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90900"/>
            <a:ext cx="251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Finance and sales analysis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AD436AE2-F997-452F-963A-707FBE82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2628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CRM and farm visit records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C6674903-2956-4B5E-AE38-3AED4CCF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57700"/>
            <a:ext cx="3181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Reports and decision dashboards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BB9E2-712B-4DD2-A33D-4971B99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6611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C8B57"/>
                </a:solidFill>
              </a:defRPr>
            </a:pPr>
            <a:r>
              <a:rPr sz="1950" b="1">
                <a:solidFill>
                  <a:srgbClr val="1C8B57"/>
                </a:solidFill>
              </a:rPr>
              <a:t>Recommended message for stakeholders</a:t>
            </a:r>
          </a:p>
        </p:txBody>
      </p:sp>
      <p:sp>
        <p:nvSpPr>
          <p:cNvPr id="14" name="bullet-1">
            <a:extLst xmlns:a="http://schemas.openxmlformats.org/drawingml/2006/main">
              <a:ext uri="{FF2B5EF4-FFF2-40B4-BE49-F238E27FC236}">
                <a16:creationId xmlns:a16="http://schemas.microsoft.com/office/drawing/2014/main" id="{879E2D00-707B-4234-8E7A-6C46CE6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Phase 1 is already aligned with the ERP foundation goals.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0011BA8F-600D-40AD-B8F0-B2B3679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1300"/>
            <a:ext cx="819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The current system has secure access, role definitions, and farm master-data capability.</a:t>
            </a:r>
          </a:p>
        </p:txBody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A2E9DDDA-2F9B-4D97-9567-240F3DD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7448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4036"/>
                </a:solidFill>
              </a:defRPr>
            </a:pPr>
            <a:r>
              <a:rPr sz="1800">
                <a:solidFill>
                  <a:srgbClr val="274036"/>
                </a:solidFill>
              </a:rPr>
              <a:t>- The project is ready to continue into deeper operational modules with less risk.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4F9B7-B632-4233-BDAB-DD7C36E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43850"/>
            <a:ext cx="1661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8B57"/>
                </a:solidFill>
              </a:defRPr>
            </a:pPr>
            <a:r>
              <a:rPr sz="3150" b="1">
                <a:solidFill>
                  <a:srgbClr val="1C8B57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75693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2026-05-26T06:59:56.6320000Z</dcterms:created>
  <dcterms:modified xsi:type="dcterms:W3CDTF">2026-05-26T06:59:56.6320000Z</dcterms:modified>
</coreProperties>
</file>